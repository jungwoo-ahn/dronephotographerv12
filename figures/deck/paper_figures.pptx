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98f242c-175e-5d85-1fee-a7f7d94427eb}">
          <p14:sldIdLst>
            <p14:sldId id="256"/>
          </p14:sldIdLst>
        </p14:section>
        <p14:section name="Method" id="{99879034-bee7-2066-2e8a-e7b8c6187799}">
          <p14:sldIdLst>
            <p14:sldId id="257"/>
            <p14:sldId id="258"/>
            <p14:sldId id="259"/>
          </p14:sldIdLst>
        </p14:section>
        <p14:section name="Results" id="{f91ea97f-8d04-1dab-c8c6-7d1027d33819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figures/overview/make_fig2.py -&gt; fig2_overview.{pdf,svg,png}. Rollout in (c): All-People-Are-Sisters p00 s31 g02, d 2.01 -&gt; 0.066, shoot at step 7 of chunk 4. The user sentence in (c)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figures/datagen/make_fig_datagen.py -&gt; fig_datagen.*. Counts were taken from the data on 2026-10-14.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figures/datagen/make_fig_datagen.py --b real -&gt; fig_datagen_realgrid.*. Grid from figures/datagen/sbatch_placement_grid.sh (job 192374), runs/placement_grid/Chill-Camping__Knit-and-Denim.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figures/qualitative/make_fig_rollouts.py --rows 0,1,2,4. Selected examples (Ours succeeds, pi0.5 / GR00T / T2A / DP all miss); image-to-action left out because it is given the GT goal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figures/qualitative/make_fig_rollouts.py --rows 3,5,6,7.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Paper figures — draft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Overview · data generation · qualitative rollouts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Fig. 2 — Method overview</a:t>
            </a:r>
            <a:endParaRPr lang="en-US" sz="3000" dirty="0"/>
          </a:p>
        </p:txBody>
      </p:sp>
      <p:pic>
        <p:nvPicPr>
          <p:cNvPr id="3" name="figure" descr="Fig. 2 — Method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00413" cy="5669280"/>
          </a:xfrm>
          <a:prstGeom prst="rect">
            <a:avLst/>
          </a:prstGeom>
        </p:spPr>
      </p:pic>
      <p:sp>
        <p:nvSpPr>
          <p:cNvPr id="4" name="notes panel"/>
          <p:cNvSpPr/>
          <p:nvPr/>
        </p:nvSpPr>
        <p:spPr>
          <a:xfrm>
            <a:off x="8977653" y="1051560"/>
            <a:ext cx="2754099" cy="5669280"/>
          </a:xfrm>
          <a:prstGeom prst="roundRect">
            <a:avLst>
              <a:gd name="adj" fmla="val 3984"/>
            </a:avLst>
          </a:prstGeom>
          <a:solidFill>
            <a:schemeClr val="bg2"/>
          </a:solidFill>
          <a:ln/>
        </p:spPr>
      </p:sp>
      <p:sp>
        <p:nvSpPr>
          <p:cNvPr id="5" name="takeaways"/>
          <p:cNvSpPr txBox="1"/>
          <p:nvPr/>
        </p:nvSpPr>
        <p:spPr>
          <a:xfrm>
            <a:off x="9206253" y="1280160"/>
            <a:ext cx="2296899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engine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random camera orbits around a placed subject; any frame a flight reaches is a goal, labelled from the projected mesh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World camera action model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frozen Qwen3-VL expert + trained world-action expert in one joint attention; 8 × 10-D action tokens (Δt, R6D, shoot)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Deployment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intent → LLM → shot profile → closed-loop chunks until the model declares shoot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Data-generation pipeline</a:t>
            </a:r>
            <a:endParaRPr lang="en-US" sz="3000" dirty="0"/>
          </a:p>
        </p:txBody>
      </p:sp>
      <p:pic>
        <p:nvPicPr>
          <p:cNvPr id="3" name="figure" descr="Data-generation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0206"/>
            <a:ext cx="8229600" cy="5631989"/>
          </a:xfrm>
          <a:prstGeom prst="rect">
            <a:avLst/>
          </a:prstGeom>
        </p:spPr>
      </p:pic>
      <p:sp>
        <p:nvSpPr>
          <p:cNvPr id="4" name="notes panel"/>
          <p:cNvSpPr/>
          <p:nvPr/>
        </p:nvSpPr>
        <p:spPr>
          <a:xfrm>
            <a:off x="9006840" y="1051560"/>
            <a:ext cx="2724912" cy="5669280"/>
          </a:xfrm>
          <a:prstGeom prst="roundRect">
            <a:avLst>
              <a:gd name="adj" fmla="val 4027"/>
            </a:avLst>
          </a:prstGeom>
          <a:solidFill>
            <a:schemeClr val="bg2"/>
          </a:solidFill>
          <a:ln/>
        </p:spPr>
      </p:sp>
      <p:sp>
        <p:nvSpPr>
          <p:cNvPr id="5" name="takeaways"/>
          <p:cNvSpPr txBox="1"/>
          <p:nvPr/>
        </p:nvSpPr>
        <p:spPr>
          <a:xfrm>
            <a:off x="9235440" y="1280160"/>
            <a:ext cx="226771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Funnel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9,889 scene × subject runs → 7,885 placements → 393k camera pairs → 75k trajectories → 2.4M frames → 150k windows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Placement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Gemini interest region, ray-cast floor cells, VLM judge keeps a spot at quality ≥ 7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Trajectory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ellipse centred at the look-at O, C_far as its vertex, through C_near; 32 frames at equal Δθ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Panel (b)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schematic grid in this version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Data-generation pipeline — real floor grid</a:t>
            </a:r>
            <a:endParaRPr lang="en-US" sz="3000" dirty="0"/>
          </a:p>
        </p:txBody>
      </p:sp>
      <p:pic>
        <p:nvPicPr>
          <p:cNvPr id="3" name="figure" descr="Data-generation pipeline — real floor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0206"/>
            <a:ext cx="8229600" cy="5631989"/>
          </a:xfrm>
          <a:prstGeom prst="rect">
            <a:avLst/>
          </a:prstGeom>
        </p:spPr>
      </p:pic>
      <p:sp>
        <p:nvSpPr>
          <p:cNvPr id="4" name="notes panel"/>
          <p:cNvSpPr/>
          <p:nvPr/>
        </p:nvSpPr>
        <p:spPr>
          <a:xfrm>
            <a:off x="9006840" y="1051560"/>
            <a:ext cx="2724912" cy="5669280"/>
          </a:xfrm>
          <a:prstGeom prst="roundRect">
            <a:avLst>
              <a:gd name="adj" fmla="val 4027"/>
            </a:avLst>
          </a:prstGeom>
          <a:solidFill>
            <a:schemeClr val="bg2"/>
          </a:solidFill>
          <a:ln/>
        </p:spPr>
      </p:sp>
      <p:sp>
        <p:nvSpPr>
          <p:cNvPr id="5" name="takeaways"/>
          <p:cNvSpPr txBox="1"/>
          <p:nvPr/>
        </p:nvSpPr>
        <p:spPr>
          <a:xfrm>
            <a:off x="9235440" y="1280160"/>
            <a:ext cx="226771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Panel (b)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real re-run of the floor search on Chill-Camping: 2,054 flat &amp; visible cells projected into the scene camera's view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VLM judge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placement run's real view scores 3, 2, 1, 8, 4; best 8 ≥ 7 kept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Caveat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re-run without the Gemini interest region, so two of the top-3 land on the lake surface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Qualitative rollouts (1/2)</a:t>
            </a:r>
            <a:endParaRPr lang="en-US" sz="3000" dirty="0"/>
          </a:p>
        </p:txBody>
      </p:sp>
      <p:pic>
        <p:nvPicPr>
          <p:cNvPr id="3" name="figure" descr="Qualitative rollouts (1/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183880" cy="5669280"/>
          </a:xfrm>
          <a:prstGeom prst="rect">
            <a:avLst/>
          </a:prstGeom>
        </p:spPr>
      </p:pic>
      <p:sp>
        <p:nvSpPr>
          <p:cNvPr id="4" name="notes panel"/>
          <p:cNvSpPr/>
          <p:nvPr/>
        </p:nvSpPr>
        <p:spPr>
          <a:xfrm>
            <a:off x="8961120" y="1051560"/>
            <a:ext cx="2770632" cy="5669280"/>
          </a:xfrm>
          <a:prstGeom prst="roundRect">
            <a:avLst>
              <a:gd name="adj" fmla="val 3960"/>
            </a:avLst>
          </a:prstGeom>
          <a:solidFill>
            <a:schemeClr val="bg2"/>
          </a:solidFill>
          <a:ln/>
        </p:spPr>
      </p:sp>
      <p:sp>
        <p:nvSpPr>
          <p:cNvPr id="5" name="takeaways"/>
          <p:cNvSpPr txBox="1"/>
          <p:nvPr/>
        </p:nvSpPr>
        <p:spPr>
          <a:xfrm>
            <a:off x="9189720" y="1280160"/>
            <a:ext cx="2313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Setting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benchmark v2, same start and goal for all policies; GT goal camera as a blue star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Ours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 0.09 / 0.07 / 0.02 / 0.08 — every baseline misses (d ≥ 0.11)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Read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3-D paths on the left, last frames and d on the right; green badge = success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Qualitative rollouts (2/2)</a:t>
            </a:r>
            <a:endParaRPr lang="en-US" sz="3000" dirty="0"/>
          </a:p>
        </p:txBody>
      </p:sp>
      <p:pic>
        <p:nvPicPr>
          <p:cNvPr id="3" name="figure" descr="Qualitative rollouts (2/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183880" cy="5669280"/>
          </a:xfrm>
          <a:prstGeom prst="rect">
            <a:avLst/>
          </a:prstGeom>
        </p:spPr>
      </p:pic>
      <p:sp>
        <p:nvSpPr>
          <p:cNvPr id="4" name="notes panel"/>
          <p:cNvSpPr/>
          <p:nvPr/>
        </p:nvSpPr>
        <p:spPr>
          <a:xfrm>
            <a:off x="8961120" y="1051560"/>
            <a:ext cx="2770632" cy="5669280"/>
          </a:xfrm>
          <a:prstGeom prst="roundRect">
            <a:avLst>
              <a:gd name="adj" fmla="val 3960"/>
            </a:avLst>
          </a:prstGeom>
          <a:solidFill>
            <a:schemeClr val="bg2"/>
          </a:solidFill>
          <a:ln/>
        </p:spPr>
      </p:sp>
      <p:sp>
        <p:nvSpPr>
          <p:cNvPr id="5" name="takeaways"/>
          <p:cNvSpPr txBox="1"/>
          <p:nvPr/>
        </p:nvSpPr>
        <p:spPr>
          <a:xfrm>
            <a:off x="9189720" y="1280160"/>
            <a:ext cx="2313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Scenes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office atrium, lake shore, modern office, mountain terrace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Ours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 0.05 / 0.05 / 0.07 / 0.09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Caption note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selected examples; say so in the paper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5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t Profile Figures">
  <a:themeElements>
    <a:clrScheme name="Shot Profile Figures">
      <a:dk1>
        <a:srgbClr val="1F2126"/>
      </a:dk1>
      <a:lt1>
        <a:srgbClr val="FFFFFF"/>
      </a:lt1>
      <a:dk2>
        <a:srgbClr val="165A3C"/>
      </a:dk2>
      <a:lt2>
        <a:srgbClr val="F3F4F6"/>
      </a:lt2>
      <a:accent1>
        <a:srgbClr val="22855A"/>
      </a:accent1>
      <a:accent2>
        <a:srgbClr val="2E5FBF"/>
      </a:accent2>
      <a:accent3>
        <a:srgbClr val="D06A1E"/>
      </a:accent3>
      <a:accent4>
        <a:srgbClr val="6A6EA0"/>
      </a:accent4>
      <a:accent5>
        <a:srgbClr val="C4553C"/>
      </a:accent5>
      <a:accent6>
        <a:srgbClr val="D99A26"/>
      </a:accent6>
      <a:hlink>
        <a:srgbClr val="2E5FBF"/>
      </a:hlink>
      <a:folHlink>
        <a:srgbClr val="6A6EA0"/>
      </a:folHlink>
    </a:clrScheme>
    <a:fontScheme name="Shot Profile Figur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figures</dc:title>
  <dc:subject>PptxGenJS Presentation</dc:subject>
  <dc:creator>PptxGenJS</dc:creator>
  <cp:lastModifiedBy>PptxGenJS</cp:lastModifiedBy>
  <cp:revision>1</cp:revision>
  <dcterms:created xsi:type="dcterms:W3CDTF">2026-10-22T08:21:03Z</dcterms:created>
  <dcterms:modified xsi:type="dcterms:W3CDTF">2026-10-22T08:21:03Z</dcterms:modified>
</cp:coreProperties>
</file>